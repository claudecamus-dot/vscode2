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ac55f3490c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2ac55f3490c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AFCB"/>
              </a:buClr>
              <a:buSzPts val="1400"/>
              <a:buFont typeface="Century Gothic"/>
              <a:buChar char="๏"/>
            </a:pPr>
            <a:r>
              <a:rPr lang="en-US">
                <a:solidFill>
                  <a:srgbClr val="0E23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Couverture générique 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b83d7a7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b83d7a7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b83d7a7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g38b83d7a7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b83d7a75f_0_12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g38b83d7a7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900" cy="3478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8b83d7a75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38b83d7a75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b83d7a75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b83d7a75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8b83d7a75f_0_63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38b83d7a75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b83d7a75f_0_88:notes"/>
          <p:cNvSpPr txBox="1">
            <a:spLocks noGrp="1"/>
          </p:cNvSpPr>
          <p:nvPr>
            <p:ph type="body" idx="1"/>
          </p:nvPr>
        </p:nvSpPr>
        <p:spPr>
          <a:xfrm>
            <a:off x="336884" y="4752473"/>
            <a:ext cx="61842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38b83d7a75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1093788"/>
            <a:ext cx="6184800" cy="347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OCTO Technology</a:t>
            </a:r>
            <a:endParaRPr/>
          </a:p>
        </p:txBody>
      </p:sp>
      <p:sp>
        <p:nvSpPr>
          <p:cNvPr id="571" name="Google Shape;571;p36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69421"/>
              <a:buNone/>
            </a:pPr>
            <a:r>
              <a:rPr lang="en-US" sz="1210" dirty="0"/>
              <a:t>title</a:t>
            </a:r>
            <a:endParaRPr dirty="0"/>
          </a:p>
        </p:txBody>
      </p:sp>
      <p:sp>
        <p:nvSpPr>
          <p:cNvPr id="572" name="Google Shape;572;p36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18.06.26</a:t>
            </a:r>
            <a:endParaRPr/>
          </a:p>
        </p:txBody>
      </p:sp>
      <p:sp>
        <p:nvSpPr>
          <p:cNvPr id="573" name="Google Shape;573;p36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Sub title</a:t>
            </a:r>
            <a:r>
              <a:rPr lang="en-US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Sommaire</a:t>
            </a:r>
            <a:endParaRPr/>
          </a:p>
        </p:txBody>
      </p:sp>
      <p:sp>
        <p:nvSpPr>
          <p:cNvPr id="579" name="Google Shape;579;p37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0" name="Google Shape;580;p37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Notre approche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8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Contexte</a:t>
            </a:r>
            <a:endParaRPr/>
          </a:p>
        </p:txBody>
      </p:sp>
      <p:sp>
        <p:nvSpPr>
          <p:cNvPr id="586" name="Google Shape;586;p38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01</a:t>
            </a:r>
            <a:endParaRPr/>
          </a:p>
        </p:txBody>
      </p:sp>
      <p:pic>
        <p:nvPicPr>
          <p:cNvPr id="587" name="Google Shape;58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9"/>
          <p:cNvSpPr/>
          <p:nvPr/>
        </p:nvSpPr>
        <p:spPr>
          <a:xfrm>
            <a:off x="1509675" y="1077250"/>
            <a:ext cx="2926500" cy="3033000"/>
          </a:xfrm>
          <a:prstGeom prst="round1Rect">
            <a:avLst>
              <a:gd name="adj" fmla="val 1942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9"/>
          <p:cNvSpPr/>
          <p:nvPr/>
        </p:nvSpPr>
        <p:spPr>
          <a:xfrm flipH="1">
            <a:off x="69730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4" name="Google Shape;594;p39"/>
          <p:cNvSpPr/>
          <p:nvPr/>
        </p:nvSpPr>
        <p:spPr>
          <a:xfrm>
            <a:off x="83651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5" name="Google Shape;595;p39"/>
          <p:cNvSpPr txBox="1"/>
          <p:nvPr/>
        </p:nvSpPr>
        <p:spPr>
          <a:xfrm>
            <a:off x="704798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Contexte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9"/>
          <p:cNvSpPr txBox="1"/>
          <p:nvPr/>
        </p:nvSpPr>
        <p:spPr>
          <a:xfrm>
            <a:off x="1549725" y="1081726"/>
            <a:ext cx="2886600" cy="29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180975" lvl="0" indent="-14287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utfit"/>
              <a:buChar char="●"/>
            </a:pPr>
            <a:r>
              <a:rPr lang="fr-FR" sz="900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endParaRPr sz="9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7" name="Google Shape;597;p39"/>
          <p:cNvSpPr/>
          <p:nvPr/>
        </p:nvSpPr>
        <p:spPr>
          <a:xfrm>
            <a:off x="5487850" y="1077275"/>
            <a:ext cx="2958600" cy="3033000"/>
          </a:xfrm>
          <a:prstGeom prst="round1Rect">
            <a:avLst>
              <a:gd name="adj" fmla="val 1942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9"/>
          <p:cNvSpPr/>
          <p:nvPr/>
        </p:nvSpPr>
        <p:spPr>
          <a:xfrm flipH="1">
            <a:off x="4707550" y="851487"/>
            <a:ext cx="919500" cy="32583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9" name="Google Shape;599;p39"/>
          <p:cNvSpPr/>
          <p:nvPr/>
        </p:nvSpPr>
        <p:spPr>
          <a:xfrm>
            <a:off x="4846760" y="1157964"/>
            <a:ext cx="641100" cy="641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0" name="Google Shape;600;p39"/>
          <p:cNvSpPr txBox="1"/>
          <p:nvPr/>
        </p:nvSpPr>
        <p:spPr>
          <a:xfrm>
            <a:off x="4715047" y="1810216"/>
            <a:ext cx="919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Vos Besoins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p39"/>
          <p:cNvSpPr txBox="1"/>
          <p:nvPr/>
        </p:nvSpPr>
        <p:spPr>
          <a:xfrm>
            <a:off x="5627775" y="1081725"/>
            <a:ext cx="2587500" cy="29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utfit"/>
              <a:buChar char="●"/>
            </a:pPr>
            <a:r>
              <a:rPr lang="fr-FR" sz="900" b="1" dirty="0">
                <a:solidFill>
                  <a:srgbClr val="00D2DD"/>
                </a:solidFill>
                <a:latin typeface="Outfit"/>
                <a:ea typeface="Outfit"/>
                <a:cs typeface="Outfit"/>
                <a:sym typeface="Outfit"/>
              </a:rPr>
              <a:t>xx</a:t>
            </a:r>
            <a:r>
              <a:rPr lang="en-US" sz="9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900" b="1" dirty="0">
              <a:solidFill>
                <a:srgbClr val="00D2D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2" name="Google Shape;602;p39"/>
          <p:cNvSpPr/>
          <p:nvPr/>
        </p:nvSpPr>
        <p:spPr>
          <a:xfrm>
            <a:off x="832000" y="4223400"/>
            <a:ext cx="7614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dirty="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xxx</a:t>
            </a:r>
            <a:endParaRPr sz="1000" dirty="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03" name="Google Shape;603;p39"/>
          <p:cNvGrpSpPr/>
          <p:nvPr/>
        </p:nvGrpSpPr>
        <p:grpSpPr>
          <a:xfrm>
            <a:off x="704793" y="4381959"/>
            <a:ext cx="243320" cy="323982"/>
            <a:chOff x="705768" y="4381896"/>
            <a:chExt cx="243320" cy="323982"/>
          </a:xfrm>
        </p:grpSpPr>
        <p:grpSp>
          <p:nvGrpSpPr>
            <p:cNvPr id="604" name="Google Shape;604;p39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05" name="Google Shape;605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7" name="Google Shape;607;p39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08" name="Google Shape;608;p39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10" name="Google Shape;610;p39"/>
          <p:cNvPicPr preferRelativeResize="0"/>
          <p:nvPr/>
        </p:nvPicPr>
        <p:blipFill rotWithShape="1">
          <a:blip r:embed="rId3">
            <a:alphaModFix/>
          </a:blip>
          <a:srcRect l="7673" t="7981" r="7162" b="7922"/>
          <a:stretch/>
        </p:blipFill>
        <p:spPr>
          <a:xfrm>
            <a:off x="969321" y="1293088"/>
            <a:ext cx="375458" cy="37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9"/>
          <p:cNvPicPr preferRelativeResize="0"/>
          <p:nvPr/>
        </p:nvPicPr>
        <p:blipFill rotWithShape="1">
          <a:blip r:embed="rId4">
            <a:alphaModFix/>
          </a:blip>
          <a:srcRect l="6317" t="6317" r="6308" b="6308"/>
          <a:stretch/>
        </p:blipFill>
        <p:spPr>
          <a:xfrm>
            <a:off x="4952125" y="1263350"/>
            <a:ext cx="430350" cy="4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5812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7558"/>
              <a:buNone/>
            </a:pPr>
            <a:r>
              <a:rPr lang="en-US" sz="1720" dirty="0"/>
              <a:t>xxx</a:t>
            </a:r>
            <a:endParaRPr sz="1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Notre approche</a:t>
            </a:r>
            <a:endParaRPr/>
          </a:p>
        </p:txBody>
      </p:sp>
      <p:sp>
        <p:nvSpPr>
          <p:cNvPr id="618" name="Google Shape;618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02</a:t>
            </a:r>
            <a:endParaRPr/>
          </a:p>
        </p:txBody>
      </p:sp>
      <p:pic>
        <p:nvPicPr>
          <p:cNvPr id="619" name="Google Shape;61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6875" y="1668700"/>
            <a:ext cx="2560500" cy="2560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>
            <a:spLocks noGrp="1"/>
          </p:cNvSpPr>
          <p:nvPr>
            <p:ph type="title"/>
          </p:nvPr>
        </p:nvSpPr>
        <p:spPr>
          <a:xfrm>
            <a:off x="805445" y="361400"/>
            <a:ext cx="792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E2356"/>
                </a:solidFill>
              </a:rPr>
              <a:t>Notre approche </a:t>
            </a:r>
            <a:endParaRPr/>
          </a:p>
        </p:txBody>
      </p:sp>
      <p:sp>
        <p:nvSpPr>
          <p:cNvPr id="625" name="Google Shape;625;p41"/>
          <p:cNvSpPr/>
          <p:nvPr/>
        </p:nvSpPr>
        <p:spPr>
          <a:xfrm flipH="1">
            <a:off x="1648332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dk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26203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7" name="Google Shape;627;p41"/>
          <p:cNvSpPr txBox="1"/>
          <p:nvPr/>
        </p:nvSpPr>
        <p:spPr>
          <a:xfrm>
            <a:off x="1660509" y="1804430"/>
            <a:ext cx="150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203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300" b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8" name="Google Shape;628;p41"/>
          <p:cNvSpPr/>
          <p:nvPr/>
        </p:nvSpPr>
        <p:spPr>
          <a:xfrm flipH="1">
            <a:off x="3663654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4572908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3379228" y="1804425"/>
            <a:ext cx="1911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03200" lvl="0" indent="-3175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déployer les premières recommandations</a:t>
            </a:r>
            <a:endParaRPr sz="1300" b="1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1" name="Google Shape;631;p41"/>
          <p:cNvSpPr/>
          <p:nvPr/>
        </p:nvSpPr>
        <p:spPr>
          <a:xfrm flipH="1">
            <a:off x="5921920" y="1196450"/>
            <a:ext cx="1531500" cy="2449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6768453" y="3155351"/>
            <a:ext cx="1050000" cy="10212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2356"/>
              </a:buClr>
              <a:buSzPts val="1200"/>
              <a:buFont typeface="Century Gothic"/>
              <a:buNone/>
            </a:pPr>
            <a:endParaRPr sz="1200" b="0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3" name="Google Shape;633;p41"/>
          <p:cNvSpPr txBox="1"/>
          <p:nvPr/>
        </p:nvSpPr>
        <p:spPr>
          <a:xfrm>
            <a:off x="5922525" y="1804425"/>
            <a:ext cx="1642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  <a:latin typeface="Outfit"/>
                <a:ea typeface="Outfit"/>
                <a:cs typeface="Outfit"/>
                <a:sym typeface="Outfit"/>
              </a:rPr>
              <a:t>continuer la mise en oeuvre itérative du déploiement des actions</a:t>
            </a:r>
            <a:endParaRPr sz="1300" b="1">
              <a:solidFill>
                <a:schemeClr val="accen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34" name="Google Shape;634;p41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04565" y="3343769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725" y="3343770"/>
            <a:ext cx="664350" cy="6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41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6969833" y="3343767"/>
            <a:ext cx="664350" cy="66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1"/>
          <p:cNvSpPr/>
          <p:nvPr/>
        </p:nvSpPr>
        <p:spPr>
          <a:xfrm>
            <a:off x="2053699" y="2732375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1~2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1419100" y="4307875"/>
            <a:ext cx="20976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Comprendre vos ambitions et vos défis, structurer des premières réponses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39" name="Google Shape;639;p41"/>
          <p:cNvSpPr txBox="1"/>
          <p:nvPr/>
        </p:nvSpPr>
        <p:spPr>
          <a:xfrm>
            <a:off x="3476500" y="4307875"/>
            <a:ext cx="230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Déployer et expérimenter les premières recommandations dans une approche itérative tout en ajustant selon les spécificités du terrain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0" name="Google Shape;640;p41"/>
          <p:cNvSpPr txBox="1"/>
          <p:nvPr/>
        </p:nvSpPr>
        <p:spPr>
          <a:xfrm>
            <a:off x="5853045" y="4307875"/>
            <a:ext cx="2097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Continuer à soutenir et à déployer la mise en oeuvre des actions tout en vérifiant l’efficacité et l’impact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1" name="Google Shape;641;p41"/>
          <p:cNvSpPr/>
          <p:nvPr/>
        </p:nvSpPr>
        <p:spPr>
          <a:xfrm>
            <a:off x="4053949" y="2735638"/>
            <a:ext cx="750900" cy="27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4~5 weeks</a:t>
            </a:r>
            <a:endParaRPr sz="8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/>
          <p:nvPr/>
        </p:nvSpPr>
        <p:spPr>
          <a:xfrm>
            <a:off x="696125" y="1212275"/>
            <a:ext cx="2508900" cy="3652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69446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Assessment flash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48" name="Google Shape;648;p42"/>
          <p:cNvCxnSpPr/>
          <p:nvPr/>
        </p:nvCxnSpPr>
        <p:spPr>
          <a:xfrm>
            <a:off x="1027522" y="3880078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42"/>
          <p:cNvSpPr/>
          <p:nvPr/>
        </p:nvSpPr>
        <p:spPr>
          <a:xfrm>
            <a:off x="277556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0" name="Google Shape;650;p42"/>
          <p:cNvPicPr preferRelativeResize="0"/>
          <p:nvPr/>
        </p:nvPicPr>
        <p:blipFill rotWithShape="1">
          <a:blip r:embed="rId3">
            <a:alphaModFix/>
          </a:blip>
          <a:srcRect l="3797" t="3797" r="3807" b="3807"/>
          <a:stretch/>
        </p:blipFill>
        <p:spPr>
          <a:xfrm>
            <a:off x="2829715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2"/>
          <p:cNvSpPr/>
          <p:nvPr/>
        </p:nvSpPr>
        <p:spPr>
          <a:xfrm>
            <a:off x="3291700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3291700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Premier déploiement</a:t>
            </a:r>
            <a:endParaRPr sz="1100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53" name="Google Shape;653;p42"/>
          <p:cNvCxnSpPr/>
          <p:nvPr/>
        </p:nvCxnSpPr>
        <p:spPr>
          <a:xfrm>
            <a:off x="3663797" y="3868706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42"/>
          <p:cNvSpPr txBox="1"/>
          <p:nvPr/>
        </p:nvSpPr>
        <p:spPr>
          <a:xfrm>
            <a:off x="3332600" y="3875095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mise en oeuvre des ajustements de l’outillage &amp; KPIs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des « ways of working » concrets au service d'une meilleure collaboration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Plan de gestion du changement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91106" y="1466510"/>
            <a:ext cx="2508900" cy="15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Fixer le court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déployer les premières actions à plus forte valeur ajoutée et évaluer les gains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construire le moyen terme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Ajustement de l’outillage et des KPIs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 construction du re-alignement des “ways of working” du delivery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0005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dispositifs d’accompagnement des rôles clés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5372802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57" name="Google Shape;6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950" y="1091470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2"/>
          <p:cNvSpPr/>
          <p:nvPr/>
        </p:nvSpPr>
        <p:spPr>
          <a:xfrm>
            <a:off x="5927975" y="1290349"/>
            <a:ext cx="2508900" cy="3574200"/>
          </a:xfrm>
          <a:prstGeom prst="round2DiagRect">
            <a:avLst>
              <a:gd name="adj1" fmla="val 6831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" tIns="81000" rIns="81000" bIns="81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9" name="Google Shape;659;p42"/>
          <p:cNvSpPr/>
          <p:nvPr/>
        </p:nvSpPr>
        <p:spPr>
          <a:xfrm>
            <a:off x="5927975" y="1045850"/>
            <a:ext cx="2508900" cy="432300"/>
          </a:xfrm>
          <a:prstGeom prst="round2SameRect">
            <a:avLst>
              <a:gd name="adj1" fmla="val 10755"/>
              <a:gd name="adj2" fmla="val 0"/>
            </a:avLst>
          </a:prstGeom>
          <a:solidFill>
            <a:schemeClr val="accent6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5000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entury Gothic"/>
              <a:buNone/>
            </a:pPr>
            <a:r>
              <a:rPr lang="en-US" sz="11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implémentation itérative</a:t>
            </a:r>
            <a:endParaRPr sz="1100" i="0" u="none" strike="noStrike" cap="none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0" name="Google Shape;660;p42"/>
          <p:cNvSpPr txBox="1"/>
          <p:nvPr/>
        </p:nvSpPr>
        <p:spPr>
          <a:xfrm>
            <a:off x="5968875" y="3861526"/>
            <a:ext cx="24678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Une capacité concrète à “tester et apprendre” des SQUADs pour être plus efficace</a:t>
            </a: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5968878" y="1478150"/>
            <a:ext cx="2467800" cy="14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0000" marR="0" lvl="0" indent="-14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rPr>
              <a:t>Mise en oeuvre des actions définies à l’étape précédente selon une approche de test et d’apprentissage (amélioration continue)</a:t>
            </a:r>
            <a:endParaRPr sz="700">
              <a:solidFill>
                <a:schemeClr val="l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8009077" y="1036974"/>
            <a:ext cx="432300" cy="432300"/>
          </a:xfrm>
          <a:prstGeom prst="teardrop">
            <a:avLst>
              <a:gd name="adj" fmla="val 100000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5">
            <a:alphaModFix/>
          </a:blip>
          <a:srcRect l="3713" t="3713" r="3703" b="3703"/>
          <a:stretch/>
        </p:blipFill>
        <p:spPr>
          <a:xfrm>
            <a:off x="8063213" y="1091458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Une approche contextualisée pour un premier déploiement aligné </a:t>
            </a:r>
            <a:endParaRPr/>
          </a:p>
        </p:txBody>
      </p:sp>
      <p:sp>
        <p:nvSpPr>
          <p:cNvPr id="665" name="Google Shape;665;p42"/>
          <p:cNvSpPr txBox="1"/>
          <p:nvPr/>
        </p:nvSpPr>
        <p:spPr>
          <a:xfrm>
            <a:off x="713975" y="3899075"/>
            <a:ext cx="2400600" cy="9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LIVRABLES</a:t>
            </a:r>
            <a:endParaRPr sz="7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Rapport d’assessment flash : panorama priorisés des douleurs et forces 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7145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Approche détaillée des actions liés aux recommandations pour les streams 2 et 3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86900" y="1462375"/>
            <a:ext cx="2467800" cy="1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Evaluer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les SQUADs du  data warehouse HERMÈS selon  :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missions, vision &amp; roadmaps,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ses /rôles, responsabilités et l’articulation avec les leaders, le management &amp; les experts, 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l’efficacité de la comitologie,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l’organisation du process de delivery end to end &amp; les process de qualité,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342900" marR="0" lvl="1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○"/>
            </a:pP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à piloter sur la base d'indicateurs concrets (roadmap, vélocité, …).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14300" marR="0" lvl="0" indent="-165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utfit"/>
              <a:buChar char="●"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Qualifier </a:t>
            </a:r>
            <a:r>
              <a:rPr lang="en-US" sz="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la capacité de changement et adapter les recommandations aux spécificités du contexte HERMÈS</a:t>
            </a:r>
            <a:endParaRPr sz="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67" name="Google Shape;667;p42"/>
          <p:cNvCxnSpPr/>
          <p:nvPr/>
        </p:nvCxnSpPr>
        <p:spPr>
          <a:xfrm>
            <a:off x="6300286" y="3868711"/>
            <a:ext cx="1764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3"/>
          <p:cNvSpPr/>
          <p:nvPr/>
        </p:nvSpPr>
        <p:spPr>
          <a:xfrm>
            <a:off x="1489850" y="1055675"/>
            <a:ext cx="6923100" cy="2898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   M   M   J   V   S   D       L   M   M   J   V   S   D       L   M   M   J   V   S   D       L   M   M   J   V   S   D       L   M   M   J   V   S   D  </a:t>
            </a:r>
            <a:r>
              <a:rPr lang="en-US" sz="7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   L   M   M   J   V   S   D       L   M   M   J   V   S   D         L   M   M   J   V   S   D  </a:t>
            </a:r>
            <a:endParaRPr sz="700" b="1" i="0" u="none" strike="noStrike" cap="non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1489850" y="2555576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entury Gothic"/>
              <a:buNone/>
            </a:pPr>
            <a:endParaRPr sz="17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3366525" y="2555575"/>
            <a:ext cx="49548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0300" rIns="1080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premiers déploiements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715224" y="255558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endParaRPr sz="700"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6" name="Google Shape;676;p43"/>
          <p:cNvSpPr/>
          <p:nvPr/>
        </p:nvSpPr>
        <p:spPr>
          <a:xfrm>
            <a:off x="1489850" y="1979525"/>
            <a:ext cx="6831600" cy="268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None/>
            </a:pPr>
            <a:r>
              <a:rPr lang="en-US" sz="17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7" name="Google Shape;677;p43"/>
          <p:cNvSpPr/>
          <p:nvPr/>
        </p:nvSpPr>
        <p:spPr>
          <a:xfrm>
            <a:off x="1486650" y="1979525"/>
            <a:ext cx="1826100" cy="268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21600" rIns="108000" bIns="20300" anchor="ctr" anchorCtr="0">
            <a:noAutofit/>
          </a:bodyPr>
          <a:lstStyle/>
          <a:p>
            <a:pPr marL="0" marR="0" lvl="0" indent="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entury Gothic"/>
              <a:buNone/>
            </a:pPr>
            <a:r>
              <a:rPr lang="en-US" sz="10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 </a:t>
            </a: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Assessment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715224" y="1979527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7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STREAM</a:t>
            </a:r>
            <a:r>
              <a:rPr lang="en-US" sz="7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01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79" name="Google Shape;679;p43"/>
          <p:cNvCxnSpPr/>
          <p:nvPr/>
        </p:nvCxnSpPr>
        <p:spPr>
          <a:xfrm rot="10800000">
            <a:off x="244261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0" name="Google Shape;680;p43"/>
          <p:cNvSpPr txBox="1"/>
          <p:nvPr/>
        </p:nvSpPr>
        <p:spPr>
          <a:xfrm>
            <a:off x="2459726" y="1405222"/>
            <a:ext cx="521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28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1" name="Google Shape;681;p43"/>
          <p:cNvCxnSpPr/>
          <p:nvPr/>
        </p:nvCxnSpPr>
        <p:spPr>
          <a:xfrm rot="10800000">
            <a:off x="1576975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2" name="Google Shape;682;p43"/>
          <p:cNvSpPr txBox="1"/>
          <p:nvPr/>
        </p:nvSpPr>
        <p:spPr>
          <a:xfrm>
            <a:off x="1587741" y="1414982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21</a:t>
            </a:r>
            <a:r>
              <a:rPr lang="en-US" sz="90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JUIN</a:t>
            </a:r>
            <a:endParaRPr sz="9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3" name="Google Shape;683;p43"/>
          <p:cNvCxnSpPr/>
          <p:nvPr/>
        </p:nvCxnSpPr>
        <p:spPr>
          <a:xfrm rot="10800000">
            <a:off x="5004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4" name="Google Shape;684;p43"/>
          <p:cNvSpPr txBox="1"/>
          <p:nvPr/>
        </p:nvSpPr>
        <p:spPr>
          <a:xfrm>
            <a:off x="3312762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5" name="Google Shape;685;p43"/>
          <p:cNvCxnSpPr/>
          <p:nvPr/>
        </p:nvCxnSpPr>
        <p:spPr>
          <a:xfrm rot="10800000">
            <a:off x="5852252" y="1397142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6" name="Google Shape;686;p43"/>
          <p:cNvSpPr txBox="1"/>
          <p:nvPr/>
        </p:nvSpPr>
        <p:spPr>
          <a:xfrm>
            <a:off x="4158508" y="1413009"/>
            <a:ext cx="5298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12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687" name="Google Shape;687;p43"/>
          <p:cNvCxnSpPr/>
          <p:nvPr/>
        </p:nvCxnSpPr>
        <p:spPr>
          <a:xfrm rot="10800000">
            <a:off x="673553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8" name="Google Shape;688;p43"/>
          <p:cNvSpPr txBox="1"/>
          <p:nvPr/>
        </p:nvSpPr>
        <p:spPr>
          <a:xfrm>
            <a:off x="5017087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19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Planning des interventions</a:t>
            </a:r>
            <a:endParaRPr/>
          </a:p>
        </p:txBody>
      </p:sp>
      <p:cxnSp>
        <p:nvCxnSpPr>
          <p:cNvPr id="690" name="Google Shape;690;p43"/>
          <p:cNvCxnSpPr/>
          <p:nvPr/>
        </p:nvCxnSpPr>
        <p:spPr>
          <a:xfrm rot="10800000">
            <a:off x="7620691" y="1397141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1" name="Google Shape;691;p43"/>
          <p:cNvSpPr txBox="1"/>
          <p:nvPr/>
        </p:nvSpPr>
        <p:spPr>
          <a:xfrm>
            <a:off x="5858674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26 JUIL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720500" y="4299600"/>
            <a:ext cx="7743600" cy="641100"/>
          </a:xfrm>
          <a:prstGeom prst="roundRect">
            <a:avLst>
              <a:gd name="adj" fmla="val 5301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3600" rIns="162000" bIns="20300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Cette mission pourra démarrer à partir du 21 JUIN*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i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* date de démarrage TBD</a:t>
            </a:r>
            <a:endParaRPr sz="1000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693" name="Google Shape;693;p43"/>
          <p:cNvGrpSpPr/>
          <p:nvPr/>
        </p:nvGrpSpPr>
        <p:grpSpPr>
          <a:xfrm>
            <a:off x="610048" y="4458096"/>
            <a:ext cx="243320" cy="323982"/>
            <a:chOff x="705768" y="4381896"/>
            <a:chExt cx="243320" cy="323982"/>
          </a:xfrm>
        </p:grpSpPr>
        <p:grpSp>
          <p:nvGrpSpPr>
            <p:cNvPr id="694" name="Google Shape;694;p43"/>
            <p:cNvGrpSpPr/>
            <p:nvPr/>
          </p:nvGrpSpPr>
          <p:grpSpPr>
            <a:xfrm>
              <a:off x="705768" y="4381896"/>
              <a:ext cx="243320" cy="323982"/>
              <a:chOff x="5906823" y="2949425"/>
              <a:chExt cx="738900" cy="984150"/>
            </a:xfrm>
          </p:grpSpPr>
          <p:sp>
            <p:nvSpPr>
              <p:cNvPr id="695" name="Google Shape;695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" name="Google Shape;697;p43"/>
            <p:cNvGrpSpPr/>
            <p:nvPr/>
          </p:nvGrpSpPr>
          <p:grpSpPr>
            <a:xfrm>
              <a:off x="725337" y="4424328"/>
              <a:ext cx="179627" cy="239247"/>
              <a:chOff x="5906823" y="2949425"/>
              <a:chExt cx="738900" cy="984150"/>
            </a:xfrm>
          </p:grpSpPr>
          <p:sp>
            <p:nvSpPr>
              <p:cNvPr id="698" name="Google Shape;698;p43"/>
              <p:cNvSpPr/>
              <p:nvPr/>
            </p:nvSpPr>
            <p:spPr>
              <a:xfrm rot="2304170">
                <a:off x="5894986" y="316166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 rot="8495830" flipH="1">
                <a:off x="5894986" y="3493914"/>
                <a:ext cx="762573" cy="227422"/>
              </a:xfrm>
              <a:prstGeom prst="roundRect">
                <a:avLst>
                  <a:gd name="adj" fmla="val 50000"/>
                </a:avLst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00" name="Google Shape;7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9610" y="1950245"/>
            <a:ext cx="386700" cy="341194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3"/>
          <p:cNvSpPr txBox="1"/>
          <p:nvPr/>
        </p:nvSpPr>
        <p:spPr>
          <a:xfrm>
            <a:off x="1281165" y="2202705"/>
            <a:ext cx="76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Kick off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21208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715224" y="3125612"/>
            <a:ext cx="696900" cy="2688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entury Gothic"/>
              <a:buNone/>
            </a:pPr>
            <a:r>
              <a:rPr lang="en-US" sz="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PILOTAGE</a:t>
            </a:r>
            <a:endParaRPr sz="100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79512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3"/>
          <p:cNvSpPr/>
          <p:nvPr/>
        </p:nvSpPr>
        <p:spPr>
          <a:xfrm>
            <a:off x="5626075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3"/>
          <p:cNvSpPr/>
          <p:nvPr/>
        </p:nvSpPr>
        <p:spPr>
          <a:xfrm>
            <a:off x="6506077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3"/>
          <p:cNvSpPr txBox="1"/>
          <p:nvPr/>
        </p:nvSpPr>
        <p:spPr>
          <a:xfrm>
            <a:off x="2601811" y="3333328"/>
            <a:ext cx="1038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Restitution</a:t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708" name="Google Shape;708;p43"/>
          <p:cNvCxnSpPr/>
          <p:nvPr/>
        </p:nvCxnSpPr>
        <p:spPr>
          <a:xfrm rot="10800000">
            <a:off x="3308254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43"/>
          <p:cNvCxnSpPr/>
          <p:nvPr/>
        </p:nvCxnSpPr>
        <p:spPr>
          <a:xfrm rot="10800000">
            <a:off x="4156253" y="1397143"/>
            <a:ext cx="0" cy="206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0" name="Google Shape;710;p43"/>
          <p:cNvSpPr txBox="1"/>
          <p:nvPr/>
        </p:nvSpPr>
        <p:spPr>
          <a:xfrm>
            <a:off x="675167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2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7646555" y="1413008"/>
            <a:ext cx="545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300" tIns="20300" rIns="20300" bIns="20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Century Gothic"/>
              <a:buNone/>
            </a:pPr>
            <a:r>
              <a:rPr lang="en-US" sz="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9 AOUT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804" y="3066075"/>
            <a:ext cx="386711" cy="37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0277" y="1345475"/>
            <a:ext cx="1657050" cy="21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/>
          <p:nvPr/>
        </p:nvSpPr>
        <p:spPr>
          <a:xfrm>
            <a:off x="3987650" y="3274550"/>
            <a:ext cx="137100" cy="1371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